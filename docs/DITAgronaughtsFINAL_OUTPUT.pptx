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5"/>
  </p:notesMasterIdLst>
  <p:sldIdLst>
    <p:sldId id="291" r:id="rId3"/>
    <p:sldId id="313" r:id="rId4"/>
    <p:sldId id="299" r:id="rId6"/>
    <p:sldId id="316" r:id="rId7"/>
    <p:sldId id="309" r:id="rId8"/>
    <p:sldId id="315" r:id="rId9"/>
    <p:sldId id="310" r:id="rId10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AE04"/>
    <a:srgbClr val="F9F199"/>
    <a:srgbClr val="FFFF00"/>
    <a:srgbClr val="A6EEF8"/>
    <a:srgbClr val="CCFF66"/>
    <a:srgbClr val="FFA751"/>
    <a:srgbClr val="39B0D4"/>
    <a:srgbClr val="006600"/>
    <a:srgbClr val="323E1A"/>
    <a:srgbClr val="9BBB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78" d="100"/>
          <a:sy n="78" d="100"/>
        </p:scale>
        <p:origin x="850" y="77"/>
      </p:cViewPr>
      <p:guideLst>
        <p:guide orient="horz" pos="2051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3CB09EE-DD47-4BFA-A495-C3A0C180B187}" type="doc">
      <dgm:prSet loTypeId="urn:microsoft.com/office/officeart/2005/8/layout/hList6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6B505FB9-95CE-416F-B2FA-D29B3DC4E2EB}" type="pres">
      <dgm:prSet presAssocID="{93CB09EE-DD47-4BFA-A495-C3A0C180B187}" presName="Name0" presStyleCnt="0">
        <dgm:presLayoutVars>
          <dgm:dir/>
          <dgm:resizeHandles val="exact"/>
        </dgm:presLayoutVars>
      </dgm:prSet>
      <dgm:spPr/>
    </dgm:pt>
  </dgm:ptLst>
  <dgm:cxnLst>
    <dgm:cxn modelId="{2B1D8A0C-628A-4DC0-975C-880860E16FD7}" type="presOf" srcId="{93CB09EE-DD47-4BFA-A495-C3A0C180B187}" destId="{6B505FB9-95CE-416F-B2FA-D29B3DC4E2EB}" srcOrd="0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3CB09EE-DD47-4BFA-A495-C3A0C180B187}" type="doc">
      <dgm:prSet loTypeId="urn:microsoft.com/office/officeart/2005/8/layout/hList6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6B505FB9-95CE-416F-B2FA-D29B3DC4E2EB}" type="pres">
      <dgm:prSet presAssocID="{93CB09EE-DD47-4BFA-A495-C3A0C180B187}" presName="Name0" presStyleCnt="0">
        <dgm:presLayoutVars>
          <dgm:dir/>
          <dgm:resizeHandles val="exact"/>
        </dgm:presLayoutVars>
      </dgm:prSet>
      <dgm:spPr/>
    </dgm:pt>
  </dgm:ptLst>
  <dgm:cxnLst>
    <dgm:cxn modelId="{2B1D8A0C-628A-4DC0-975C-880860E16FD7}" type="presOf" srcId="{93CB09EE-DD47-4BFA-A495-C3A0C180B187}" destId="{6B505FB9-95CE-416F-B2FA-D29B3DC4E2EB}" srcOrd="0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47C210-5E88-4A6A-845B-DD4DF346CF76}">
      <dsp:nvSpPr>
        <dsp:cNvPr id="0" name=""/>
        <dsp:cNvSpPr/>
      </dsp:nvSpPr>
      <dsp:spPr>
        <a:xfrm rot="16200000">
          <a:off x="-410515" y="410515"/>
          <a:ext cx="2677803" cy="1856772"/>
        </a:xfrm>
        <a:prstGeom prst="flowChartManualOperati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0" rIns="95250" bIns="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+mn-lt"/>
            </a:rPr>
            <a:t>Stage 1: Data Ingestion Layer</a:t>
          </a:r>
          <a:endParaRPr lang="en-IN" sz="1500" kern="1200" dirty="0">
            <a:latin typeface="+mn-lt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Study area dataset (ground truth and satellite imagery)</a:t>
          </a:r>
          <a:endParaRPr lang="en-IN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IoT sensors (</a:t>
          </a:r>
          <a:r>
            <a:rPr lang="en-IN" sz="1000" kern="1200" dirty="0"/>
            <a:t>Soil moisture, pH, NPK, micro-weather)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Gov APIs (</a:t>
          </a:r>
          <a:r>
            <a:rPr lang="en-IN" sz="1000" kern="1200" dirty="0"/>
            <a:t>Soil Health Card, IMD Weather, AGMARKNET (market prices), eNAM)</a:t>
          </a:r>
        </a:p>
      </dsp:txBody>
      <dsp:txXfrm rot="5400000">
        <a:off x="1" y="535560"/>
        <a:ext cx="1856772" cy="1606681"/>
      </dsp:txXfrm>
    </dsp:sp>
    <dsp:sp modelId="{6E538682-E5E3-4A35-BE20-E53334F0DB42}">
      <dsp:nvSpPr>
        <dsp:cNvPr id="0" name=""/>
        <dsp:cNvSpPr/>
      </dsp:nvSpPr>
      <dsp:spPr>
        <a:xfrm rot="16200000">
          <a:off x="1587407" y="410515"/>
          <a:ext cx="2677803" cy="1856772"/>
        </a:xfrm>
        <a:prstGeom prst="flowChartManualOperation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0" rIns="95250" bIns="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Stage 2: Dataset preparation and feature engineering</a:t>
          </a:r>
          <a:endParaRPr lang="en-IN" sz="15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Dataset cleaning and pre-processing</a:t>
          </a:r>
          <a:endParaRPr lang="en-IN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Feature engineering</a:t>
          </a:r>
          <a:endParaRPr lang="en-IN" sz="1000" kern="1200" dirty="0"/>
        </a:p>
      </dsp:txBody>
      <dsp:txXfrm rot="5400000">
        <a:off x="1997923" y="535560"/>
        <a:ext cx="1856772" cy="1606681"/>
      </dsp:txXfrm>
    </dsp:sp>
    <dsp:sp modelId="{2409CC3C-0200-43CC-84CE-2B9267815D41}">
      <dsp:nvSpPr>
        <dsp:cNvPr id="0" name=""/>
        <dsp:cNvSpPr/>
      </dsp:nvSpPr>
      <dsp:spPr>
        <a:xfrm rot="16200000">
          <a:off x="3583438" y="410515"/>
          <a:ext cx="2677803" cy="1856772"/>
        </a:xfrm>
        <a:prstGeom prst="flowChartManualOperation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0" rIns="95250" bIns="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Stage 3: Machine Learning and IoT modelling</a:t>
          </a:r>
          <a:endParaRPr lang="en-IN" sz="1500" kern="1200" dirty="0"/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/>
            <a:t>Crop suitability recommendation</a:t>
          </a:r>
          <a:endParaRPr lang="en-IN" sz="700" kern="1200" dirty="0"/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/>
            <a:t>Crop health monitoring (pest/disease detection)</a:t>
          </a:r>
          <a:endParaRPr lang="en-IN" sz="700" kern="1200" dirty="0"/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/>
            <a:t>Crop-soil-fertilizer mapper</a:t>
          </a:r>
          <a:endParaRPr lang="en-IN" sz="700" kern="1200" dirty="0"/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/>
            <a:t>Weather risk + agro advisory</a:t>
          </a:r>
          <a:endParaRPr lang="en-IN" sz="700" kern="1200" dirty="0"/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/>
            <a:t>Market price forecasting</a:t>
          </a:r>
          <a:endParaRPr lang="en-IN" sz="700" kern="1200" dirty="0"/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/>
            <a:t>Multilingual AI based chatbot</a:t>
          </a:r>
          <a:endParaRPr lang="en-IN" sz="700" kern="1200" dirty="0"/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/>
            <a:t>Feedback and usage data collection (Reinforcement Learning)</a:t>
          </a:r>
          <a:endParaRPr lang="en-IN" sz="7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1100" kern="1200" dirty="0"/>
        </a:p>
      </dsp:txBody>
      <dsp:txXfrm rot="5400000">
        <a:off x="3993954" y="535560"/>
        <a:ext cx="1856772" cy="1606681"/>
      </dsp:txXfrm>
    </dsp:sp>
    <dsp:sp modelId="{7740B552-36FB-4019-B3CF-65A62FFA9655}">
      <dsp:nvSpPr>
        <dsp:cNvPr id="0" name=""/>
        <dsp:cNvSpPr/>
      </dsp:nvSpPr>
      <dsp:spPr>
        <a:xfrm rot="16200000">
          <a:off x="5480886" y="410515"/>
          <a:ext cx="2677803" cy="1856772"/>
        </a:xfrm>
        <a:prstGeom prst="flowChartManualOperation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0" rIns="9525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Stage 4: HAL, our proposed interface</a:t>
          </a:r>
          <a:endParaRPr lang="en-IN" sz="1500" kern="1200" dirty="0"/>
        </a:p>
      </dsp:txBody>
      <dsp:txXfrm rot="5400000">
        <a:off x="5891402" y="535560"/>
        <a:ext cx="1856772" cy="160668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47C210-5E88-4A6A-845B-DD4DF346CF76}">
      <dsp:nvSpPr>
        <dsp:cNvPr id="0" name=""/>
        <dsp:cNvSpPr/>
      </dsp:nvSpPr>
      <dsp:spPr>
        <a:xfrm rot="16200000">
          <a:off x="-410515" y="410515"/>
          <a:ext cx="2677803" cy="1856772"/>
        </a:xfrm>
        <a:prstGeom prst="flowChartManualOperati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0" rIns="95250" bIns="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+mn-lt"/>
            </a:rPr>
            <a:t>Stage 1: Data Ingestion Layer</a:t>
          </a:r>
          <a:endParaRPr lang="en-IN" sz="1500" kern="1200" dirty="0">
            <a:latin typeface="+mn-lt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Study area dataset (ground truth and satellite imagery)</a:t>
          </a:r>
          <a:endParaRPr lang="en-IN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IoT sensors (</a:t>
          </a:r>
          <a:r>
            <a:rPr lang="en-IN" sz="1000" kern="1200" dirty="0"/>
            <a:t>Soil moisture, pH, NPK, micro-weather)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Gov APIs (</a:t>
          </a:r>
          <a:r>
            <a:rPr lang="en-IN" sz="1000" kern="1200" dirty="0"/>
            <a:t>Soil Health Card, IMD Weather, AGMARKNET (market prices), eNAM)</a:t>
          </a:r>
        </a:p>
      </dsp:txBody>
      <dsp:txXfrm rot="5400000">
        <a:off x="1" y="535560"/>
        <a:ext cx="1856772" cy="1606681"/>
      </dsp:txXfrm>
    </dsp:sp>
    <dsp:sp modelId="{6E538682-E5E3-4A35-BE20-E53334F0DB42}">
      <dsp:nvSpPr>
        <dsp:cNvPr id="0" name=""/>
        <dsp:cNvSpPr/>
      </dsp:nvSpPr>
      <dsp:spPr>
        <a:xfrm rot="16200000">
          <a:off x="1587407" y="410515"/>
          <a:ext cx="2677803" cy="1856772"/>
        </a:xfrm>
        <a:prstGeom prst="flowChartManualOperation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0" rIns="95250" bIns="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Stage 2: Dataset preparation and feature engineering</a:t>
          </a:r>
          <a:endParaRPr lang="en-IN" sz="15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Dataset cleaning and pre-processing</a:t>
          </a:r>
          <a:endParaRPr lang="en-IN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Feature engineering</a:t>
          </a:r>
          <a:endParaRPr lang="en-IN" sz="1000" kern="1200" dirty="0"/>
        </a:p>
      </dsp:txBody>
      <dsp:txXfrm rot="5400000">
        <a:off x="1997923" y="535560"/>
        <a:ext cx="1856772" cy="1606681"/>
      </dsp:txXfrm>
    </dsp:sp>
    <dsp:sp modelId="{2409CC3C-0200-43CC-84CE-2B9267815D41}">
      <dsp:nvSpPr>
        <dsp:cNvPr id="0" name=""/>
        <dsp:cNvSpPr/>
      </dsp:nvSpPr>
      <dsp:spPr>
        <a:xfrm rot="16200000">
          <a:off x="3583438" y="410515"/>
          <a:ext cx="2677803" cy="1856772"/>
        </a:xfrm>
        <a:prstGeom prst="flowChartManualOperation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0" rIns="95250" bIns="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Stage 3: Machine Learning and IoT modelling</a:t>
          </a:r>
          <a:endParaRPr lang="en-IN" sz="1500" kern="1200" dirty="0"/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/>
            <a:t>Crop suitability recommendation</a:t>
          </a:r>
          <a:endParaRPr lang="en-IN" sz="700" kern="1200" dirty="0"/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/>
            <a:t>Crop health monitoring (pest/disease detection)</a:t>
          </a:r>
          <a:endParaRPr lang="en-IN" sz="700" kern="1200" dirty="0"/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/>
            <a:t>Crop-soil-fertilizer mapper</a:t>
          </a:r>
          <a:endParaRPr lang="en-IN" sz="700" kern="1200" dirty="0"/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/>
            <a:t>Weather risk + agro advisory</a:t>
          </a:r>
          <a:endParaRPr lang="en-IN" sz="700" kern="1200" dirty="0"/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/>
            <a:t>Market price forecasting</a:t>
          </a:r>
          <a:endParaRPr lang="en-IN" sz="700" kern="1200" dirty="0"/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/>
            <a:t>Multilingual AI based chatbot</a:t>
          </a:r>
          <a:endParaRPr lang="en-IN" sz="700" kern="1200" dirty="0"/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/>
            <a:t>Feedback and usage data collection (Reinforcement Learning)</a:t>
          </a:r>
          <a:endParaRPr lang="en-IN" sz="7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1100" kern="1200" dirty="0"/>
        </a:p>
      </dsp:txBody>
      <dsp:txXfrm rot="5400000">
        <a:off x="3993954" y="535560"/>
        <a:ext cx="1856772" cy="1606681"/>
      </dsp:txXfrm>
    </dsp:sp>
    <dsp:sp modelId="{7740B552-36FB-4019-B3CF-65A62FFA9655}">
      <dsp:nvSpPr>
        <dsp:cNvPr id="0" name=""/>
        <dsp:cNvSpPr/>
      </dsp:nvSpPr>
      <dsp:spPr>
        <a:xfrm rot="16200000">
          <a:off x="5480886" y="410515"/>
          <a:ext cx="2677803" cy="1856772"/>
        </a:xfrm>
        <a:prstGeom prst="flowChartManualOperation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0" rIns="9525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Stage 4: HAL, our proposed interface</a:t>
          </a:r>
          <a:endParaRPr lang="en-IN" sz="1500" kern="1200" dirty="0"/>
        </a:p>
      </dsp:txBody>
      <dsp:txXfrm rot="5400000">
        <a:off x="5891402" y="535560"/>
        <a:ext cx="1856772" cy="16066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type="flowChartManualOperation" r:blip="" rot="-90">
              <dgm:adjLst/>
            </dgm:shape>
          </dgm:if>
          <dgm:else name="Name6">
            <dgm:shape xmlns:r="http://schemas.openxmlformats.org/officeDocument/2006/relationships" type="flowChartManualOperation" r:blip="" rot="90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type="flowChartManualOperation" r:blip="" rot="-90">
              <dgm:adjLst/>
            </dgm:shape>
          </dgm:if>
          <dgm:else name="Name6">
            <dgm:shape xmlns:r="http://schemas.openxmlformats.org/officeDocument/2006/relationships" type="flowChartManualOperation" r:blip="" rot="90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MS PGothic" panose="020B0600070205080204" pitchFamily="1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65F62A7E-A2F8-438F-9CF8-47DE63F471B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65F62A7E-A2F8-438F-9CF8-47DE63F471B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65F62A7E-A2F8-438F-9CF8-47DE63F471B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65F62A7E-A2F8-438F-9CF8-47DE63F471B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65F62A7E-A2F8-438F-9CF8-47DE63F471B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65F62A7E-A2F8-438F-9CF8-47DE63F471B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image" Target="../media/image11.png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2" Type="http://schemas.openxmlformats.org/officeDocument/2006/relationships/notesSlide" Target="../notesSlides/notesSlide2.xml"/><Relationship Id="rId21" Type="http://schemas.openxmlformats.org/officeDocument/2006/relationships/slideLayout" Target="../slideLayouts/slideLayout2.xml"/><Relationship Id="rId20" Type="http://schemas.openxmlformats.org/officeDocument/2006/relationships/image" Target="../media/image23.jpeg"/><Relationship Id="rId2" Type="http://schemas.openxmlformats.org/officeDocument/2006/relationships/image" Target="../media/image5.png"/><Relationship Id="rId19" Type="http://schemas.openxmlformats.org/officeDocument/2006/relationships/image" Target="../media/image22.png"/><Relationship Id="rId18" Type="http://schemas.openxmlformats.org/officeDocument/2006/relationships/image" Target="../media/image21.png"/><Relationship Id="rId17" Type="http://schemas.openxmlformats.org/officeDocument/2006/relationships/image" Target="../media/image20.png"/><Relationship Id="rId16" Type="http://schemas.openxmlformats.org/officeDocument/2006/relationships/image" Target="../media/image19.jpeg"/><Relationship Id="rId15" Type="http://schemas.openxmlformats.org/officeDocument/2006/relationships/image" Target="../media/image18.png"/><Relationship Id="rId14" Type="http://schemas.openxmlformats.org/officeDocument/2006/relationships/image" Target="../media/image17.png"/><Relationship Id="rId13" Type="http://schemas.openxmlformats.org/officeDocument/2006/relationships/image" Target="../media/image16.png"/><Relationship Id="rId12" Type="http://schemas.openxmlformats.org/officeDocument/2006/relationships/image" Target="../media/image15.png"/><Relationship Id="rId11" Type="http://schemas.openxmlformats.org/officeDocument/2006/relationships/image" Target="../media/image14.png"/><Relationship Id="rId10" Type="http://schemas.openxmlformats.org/officeDocument/2006/relationships/image" Target="../media/image1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8" Type="http://schemas.microsoft.com/office/2007/relationships/diagramDrawing" Target="../diagrams/drawing1.xml"/><Relationship Id="rId7" Type="http://schemas.openxmlformats.org/officeDocument/2006/relationships/diagramColors" Target="../diagrams/colors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8" Type="http://schemas.openxmlformats.org/officeDocument/2006/relationships/notesSlide" Target="../notesSlides/notesSlide3.xml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31.png"/><Relationship Id="rId15" Type="http://schemas.openxmlformats.org/officeDocument/2006/relationships/image" Target="../media/image30.png"/><Relationship Id="rId14" Type="http://schemas.openxmlformats.org/officeDocument/2006/relationships/image" Target="../media/image29.jpeg"/><Relationship Id="rId13" Type="http://schemas.openxmlformats.org/officeDocument/2006/relationships/image" Target="../media/image28.png"/><Relationship Id="rId12" Type="http://schemas.openxmlformats.org/officeDocument/2006/relationships/image" Target="../media/image27.png"/><Relationship Id="rId11" Type="http://schemas.openxmlformats.org/officeDocument/2006/relationships/image" Target="../media/image26.png"/><Relationship Id="rId10" Type="http://schemas.openxmlformats.org/officeDocument/2006/relationships/image" Target="../media/image25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2.png"/><Relationship Id="rId8" Type="http://schemas.microsoft.com/office/2007/relationships/diagramDrawing" Target="../diagrams/drawing2.xml"/><Relationship Id="rId7" Type="http://schemas.openxmlformats.org/officeDocument/2006/relationships/diagramColors" Target="../diagrams/colors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3" Type="http://schemas.openxmlformats.org/officeDocument/2006/relationships/notesSlide" Target="../notesSlides/notesSlide4.xml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34.jpeg"/><Relationship Id="rId10" Type="http://schemas.openxmlformats.org/officeDocument/2006/relationships/image" Target="../media/image3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38.png"/><Relationship Id="rId7" Type="http://schemas.openxmlformats.org/officeDocument/2006/relationships/image" Target="../media/image6.png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3" Type="http://schemas.openxmlformats.org/officeDocument/2006/relationships/image" Target="../media/image5.png"/><Relationship Id="rId2" Type="http://schemas.openxmlformats.org/officeDocument/2006/relationships/image" Target="../media/image3.jpeg"/><Relationship Id="rId10" Type="http://schemas.openxmlformats.org/officeDocument/2006/relationships/notesSlide" Target="../notesSlides/notesSlide5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hyperlink" Target="https://ai4bharat.iitm.ac.in/" TargetMode="External"/><Relationship Id="rId8" Type="http://schemas.openxmlformats.org/officeDocument/2006/relationships/hyperlink" Target="https://mkisan.gov.in/" TargetMode="External"/><Relationship Id="rId7" Type="http://schemas.openxmlformats.org/officeDocument/2006/relationships/hyperlink" Target="https://www.data.gov.in/resource/current-daily-price-various-commodities-various-markets-mandi" TargetMode="External"/><Relationship Id="rId6" Type="http://schemas.openxmlformats.org/officeDocument/2006/relationships/hyperlink" Target="https://power.larc.nasa.gov/" TargetMode="External"/><Relationship Id="rId5" Type="http://schemas.openxmlformats.org/officeDocument/2006/relationships/hyperlink" Target="https://open-meteo.com/" TargetMode="Externa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3.jpeg"/><Relationship Id="rId11" Type="http://schemas.openxmlformats.org/officeDocument/2006/relationships/notesSlide" Target="../notesSlides/notesSlide6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r="59916"/>
          <a:stretch>
            <a:fillRect/>
          </a:stretch>
        </p:blipFill>
        <p:spPr>
          <a:xfrm>
            <a:off x="7091876" y="2379609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012813" y="-540106"/>
            <a:ext cx="8282572" cy="1931699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2869" y="1546089"/>
            <a:ext cx="6665824" cy="4582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ID: SIH25010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Title: Smart Crop Advisory System For Small And Marginal Farmers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Theme: Agriculture, FoodTech &amp; rural development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Category: Software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ID: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portal):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4198" y="-9730"/>
            <a:ext cx="1416521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24444" t="31423" r="27556" b="30666"/>
          <a:stretch>
            <a:fillRect/>
          </a:stretch>
        </p:blipFill>
        <p:spPr>
          <a:xfrm>
            <a:off x="11289097" y="698750"/>
            <a:ext cx="911622" cy="720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2817" y="-34285"/>
            <a:ext cx="1466069" cy="1466069"/>
          </a:xfrm>
          <a:prstGeom prst="rect">
            <a:avLst/>
          </a:prstGeom>
        </p:spPr>
      </p:pic>
      <p:sp>
        <p:nvSpPr>
          <p:cNvPr id="14" name="Title 1"/>
          <p:cNvSpPr txBox="1"/>
          <p:nvPr/>
        </p:nvSpPr>
        <p:spPr bwMode="auto">
          <a:xfrm>
            <a:off x="-83464" y="959579"/>
            <a:ext cx="12358927" cy="109705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MS PGothic" panose="020B0600070205080204" pitchFamily="1" charset="-128"/>
                <a:cs typeface="MS PGothic" panose="020B0600070205080204" pitchFamily="1" charset="-128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9pPr>
          </a:lstStyle>
          <a:p>
            <a:pPr eaLnBrk="1" hangingPunct="1"/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H</a:t>
            </a:r>
            <a:r>
              <a:rPr lang="en-US" sz="3200" b="1" dirty="0">
                <a:solidFill>
                  <a:srgbClr val="00B0F0"/>
                </a:solidFill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A</a:t>
            </a:r>
            <a:r>
              <a:rPr lang="en-US" sz="3200" b="1" dirty="0">
                <a:solidFill>
                  <a:srgbClr val="92D050"/>
                </a:solidFill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L </a:t>
            </a:r>
            <a:r>
              <a:rPr lang="en-US" sz="3200" b="1" dirty="0"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/</a:t>
            </a:r>
            <a:r>
              <a:rPr lang="en-US" sz="3200" b="1" dirty="0">
                <a:solidFill>
                  <a:srgbClr val="92D050"/>
                </a:solidFill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 </a:t>
            </a:r>
            <a:r>
              <a:rPr lang="hi-IN" sz="3200" dirty="0">
                <a:solidFill>
                  <a:schemeClr val="accent6">
                    <a:lumMod val="75000"/>
                  </a:schemeClr>
                </a:solidFill>
              </a:rPr>
              <a:t>ह</a:t>
            </a:r>
            <a:r>
              <a:rPr lang="hi-IN" sz="3200" dirty="0">
                <a:solidFill>
                  <a:srgbClr val="92D050"/>
                </a:solidFill>
              </a:rPr>
              <a:t>ल</a:t>
            </a:r>
            <a:r>
              <a:rPr lang="en-IN" sz="3200" dirty="0"/>
              <a:t> </a:t>
            </a:r>
            <a:r>
              <a:rPr lang="en-US" sz="3200" b="1" dirty="0"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(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Harvest</a:t>
            </a:r>
            <a:r>
              <a:rPr lang="en-US" sz="3200" b="1" dirty="0"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rgbClr val="00B0F0"/>
                </a:solidFill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Advisory</a:t>
            </a:r>
            <a:r>
              <a:rPr lang="en-US" sz="3200" b="1" dirty="0"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 with </a:t>
            </a:r>
            <a:r>
              <a:rPr lang="en-US" sz="3200" b="1" dirty="0">
                <a:solidFill>
                  <a:srgbClr val="92D050"/>
                </a:solidFill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Linguistic</a:t>
            </a:r>
            <a:r>
              <a:rPr lang="en-US" sz="3200" b="1" dirty="0"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 intelligence)</a:t>
            </a:r>
            <a:endParaRPr lang="en-US" sz="3200" b="1" dirty="0">
              <a:latin typeface="+mn-lt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38728" y="1323442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797513" y="-188529"/>
            <a:ext cx="10423075" cy="1097058"/>
          </a:xfrm>
        </p:spPr>
        <p:txBody>
          <a:bodyPr/>
          <a:lstStyle/>
          <a:p>
            <a:pPr eaLnBrk="1" hangingPunct="1"/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H</a:t>
            </a:r>
            <a:r>
              <a:rPr lang="en-US" sz="3600" b="1" dirty="0">
                <a:solidFill>
                  <a:srgbClr val="00B0F0"/>
                </a:solidFill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A</a:t>
            </a:r>
            <a:r>
              <a:rPr lang="en-US" sz="3600" b="1" dirty="0">
                <a:solidFill>
                  <a:srgbClr val="92D050"/>
                </a:solidFill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L</a:t>
            </a:r>
            <a:r>
              <a:rPr lang="en-US" sz="3600" b="1" dirty="0"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 (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Harvest</a:t>
            </a:r>
            <a:r>
              <a:rPr lang="en-US" sz="3600" b="1" dirty="0"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00B0F0"/>
                </a:solidFill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Advisory</a:t>
            </a:r>
            <a:r>
              <a:rPr lang="en-US" sz="3600" b="1" dirty="0"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 with </a:t>
            </a:r>
            <a:r>
              <a:rPr lang="en-US" sz="3600" b="1" dirty="0">
                <a:solidFill>
                  <a:srgbClr val="92D050"/>
                </a:solidFill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Linguistic</a:t>
            </a:r>
            <a:r>
              <a:rPr lang="en-US" sz="3600" b="1" dirty="0"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 intelligence)</a:t>
            </a:r>
            <a:endParaRPr lang="en-US" sz="3600" b="1" dirty="0">
              <a:latin typeface="+mn-lt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5477" y="-34433"/>
            <a:ext cx="1416521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8417845" y="485512"/>
            <a:ext cx="33843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C00000"/>
                </a:solidFill>
              </a:rPr>
              <a:t>from soil to solutions</a:t>
            </a:r>
            <a:endParaRPr lang="en-IN" sz="2000" b="1" i="1" dirty="0">
              <a:solidFill>
                <a:srgbClr val="C00000"/>
              </a:solidFill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2"/>
          <a:srcRect l="25163" t="11849" r="25984" b="4677"/>
          <a:stretch>
            <a:fillRect/>
          </a:stretch>
        </p:blipFill>
        <p:spPr>
          <a:xfrm>
            <a:off x="215924" y="24454"/>
            <a:ext cx="1026699" cy="1169551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65312" y="1025042"/>
            <a:ext cx="6154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>
                <a:solidFill>
                  <a:srgbClr val="323E1A"/>
                </a:solidFill>
              </a:rPr>
              <a:t>by</a:t>
            </a:r>
            <a:endParaRPr lang="en-IN" sz="1400" b="1" i="1" dirty="0">
              <a:solidFill>
                <a:srgbClr val="323E1A"/>
              </a:solidFill>
            </a:endParaRP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6548" y="1194005"/>
            <a:ext cx="1731642" cy="1731642"/>
          </a:xfrm>
          <a:prstGeom prst="rect">
            <a:avLst/>
          </a:prstGeom>
        </p:spPr>
      </p:pic>
      <p:sp>
        <p:nvSpPr>
          <p:cNvPr id="13" name="Rectangle 3"/>
          <p:cNvSpPr>
            <a:spLocks noChangeArrowheads="1"/>
          </p:cNvSpPr>
          <p:nvPr/>
        </p:nvSpPr>
        <p:spPr bwMode="auto">
          <a:xfrm>
            <a:off x="304800" y="120134"/>
            <a:ext cx="39305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604926" y="1025042"/>
            <a:ext cx="0" cy="19006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215924" y="2925647"/>
            <a:ext cx="138900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1604926" y="1025042"/>
            <a:ext cx="377331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378245" y="1025042"/>
            <a:ext cx="0" cy="49529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215924" y="2925647"/>
            <a:ext cx="0" cy="305236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215924" y="5978013"/>
            <a:ext cx="516232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614760" y="1078625"/>
            <a:ext cx="3753648" cy="1969770"/>
          </a:xfrm>
          <a:prstGeom prst="rect">
            <a:avLst/>
          </a:prstGeom>
          <a:solidFill>
            <a:srgbClr val="A6EEF8"/>
          </a:solidFill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Detailed Explanation of the Solution</a:t>
            </a:r>
            <a:endParaRPr lang="en-IN" sz="16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 is a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multilingual, AI-powered smart crop advisory system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small and marginal farmers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dirty="0"/>
              <a:t>It integrates </a:t>
            </a:r>
            <a:r>
              <a:rPr lang="en-IN" sz="1400" b="1" dirty="0"/>
              <a:t>Machine Learning, IoT, NLP, climate sensors, and satellite datasets</a:t>
            </a:r>
            <a:r>
              <a:rPr lang="en-IN" sz="1400" dirty="0"/>
              <a:t> to provide </a:t>
            </a:r>
            <a:r>
              <a:rPr lang="en-IN" sz="1400" b="1" dirty="0"/>
              <a:t>real-time advice.</a:t>
            </a:r>
            <a:endParaRPr lang="en-IN" sz="1400" dirty="0"/>
          </a:p>
        </p:txBody>
      </p:sp>
      <p:sp>
        <p:nvSpPr>
          <p:cNvPr id="40" name="TextBox 39"/>
          <p:cNvSpPr txBox="1"/>
          <p:nvPr/>
        </p:nvSpPr>
        <p:spPr>
          <a:xfrm flipH="1">
            <a:off x="245110" y="2979420"/>
            <a:ext cx="5123180" cy="2997200"/>
          </a:xfrm>
          <a:prstGeom prst="rect">
            <a:avLst/>
          </a:prstGeom>
          <a:solidFill>
            <a:srgbClr val="A6EEF8"/>
          </a:solidFill>
        </p:spPr>
        <p:txBody>
          <a:bodyPr wrap="square" rtlCol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IN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dirty="0"/>
              <a:t>The solution is accessible via a </a:t>
            </a:r>
            <a:r>
              <a:rPr lang="en-IN" sz="1400" b="1" dirty="0"/>
              <a:t>low-cost mobile app and voice-enabled chatbot</a:t>
            </a:r>
            <a:r>
              <a:rPr lang="en-IN" sz="1400" dirty="0"/>
              <a:t>, breaking language and literacy barriers.</a:t>
            </a:r>
            <a:endParaRPr lang="en-IN" sz="1400" dirty="0"/>
          </a:p>
          <a:p>
            <a:endParaRPr lang="en-IN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dirty="0"/>
              <a:t>By using </a:t>
            </a:r>
            <a:r>
              <a:rPr lang="en-IN" sz="1400" b="1" dirty="0"/>
              <a:t>government APIs (SHC, AI4Bharat, Mandi API)</a:t>
            </a:r>
            <a:r>
              <a:rPr lang="en-IN" sz="1400" dirty="0"/>
              <a:t>, Google APIs, and NASA/ISRO data, HAL ensures </a:t>
            </a:r>
            <a:r>
              <a:rPr lang="en-IN" sz="1400" b="1" dirty="0"/>
              <a:t>scientific, scalable, and sustainable recommendations</a:t>
            </a:r>
            <a:r>
              <a:rPr lang="en-IN" sz="1400" dirty="0"/>
              <a:t> </a:t>
            </a:r>
            <a:r>
              <a:rPr lang="en-US" altLang="en-IN" sz="1400" b="1" dirty="0"/>
              <a:t>and provide government scheme</a:t>
            </a:r>
            <a:r>
              <a:rPr lang="en-US" altLang="en-IN" sz="1400" dirty="0"/>
              <a:t> </a:t>
            </a:r>
            <a:r>
              <a:rPr lang="en-IN" sz="1400" dirty="0"/>
              <a:t>that improve both </a:t>
            </a:r>
            <a:r>
              <a:rPr lang="en-IN" sz="1400" b="1" dirty="0"/>
              <a:t>technical efficiency and farmers’ financial outcomes</a:t>
            </a:r>
            <a:r>
              <a:rPr lang="en-IN" sz="1400" dirty="0"/>
              <a:t>.</a:t>
            </a:r>
            <a:endParaRPr lang="en-IN" sz="1400" dirty="0"/>
          </a:p>
          <a:p>
            <a:endParaRPr lang="en-IN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b="1" dirty="0"/>
              <a:t>Provides hyper-local guidance</a:t>
            </a:r>
            <a:r>
              <a:rPr lang="en-IN" sz="1400" dirty="0"/>
              <a:t> on soil health, weather, pest management, fertilizer use, and market trends.</a:t>
            </a:r>
            <a:br>
              <a:rPr lang="en-IN" dirty="0"/>
            </a:b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1600" dirty="0"/>
          </a:p>
        </p:txBody>
      </p:sp>
      <p:sp>
        <p:nvSpPr>
          <p:cNvPr id="42" name="TextBox 41"/>
          <p:cNvSpPr txBox="1"/>
          <p:nvPr/>
        </p:nvSpPr>
        <p:spPr>
          <a:xfrm>
            <a:off x="6009050" y="1078625"/>
            <a:ext cx="5863478" cy="23852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Addresses the Problem </a:t>
            </a:r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b="1" dirty="0"/>
              <a:t>Reduces guesswork:</a:t>
            </a:r>
            <a:r>
              <a:rPr lang="en-US" sz="1400" dirty="0"/>
              <a:t> Provides </a:t>
            </a:r>
            <a:r>
              <a:rPr lang="en-US" sz="1400" b="1" dirty="0"/>
              <a:t>data-driven insights</a:t>
            </a:r>
            <a:r>
              <a:rPr lang="en-US" sz="1400" dirty="0"/>
              <a:t> to lower risk and improve yields.</a:t>
            </a: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9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b="1" dirty="0"/>
              <a:t>Promotes organic &amp; sustainable farming:</a:t>
            </a:r>
            <a:r>
              <a:rPr lang="en-US" sz="1400" dirty="0"/>
              <a:t> Offers soil health monitoring to reduce overuse of chemicals and environmental harm.</a:t>
            </a:r>
            <a:endParaRPr lang="en-US" sz="1400" dirty="0"/>
          </a:p>
          <a:p>
            <a:endParaRPr lang="en-US" sz="1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dirty="0"/>
              <a:t>Bridges digital &amp; language barriers</a:t>
            </a:r>
            <a:endParaRPr lang="en-IN" sz="1400" dirty="0"/>
          </a:p>
          <a:p>
            <a:endParaRPr lang="en-IN" sz="10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b="1" dirty="0"/>
              <a:t>Integrated solution:</a:t>
            </a:r>
            <a:r>
              <a:rPr lang="en-US" sz="1400" dirty="0"/>
              <a:t> Combines soil–weather–crop–market insights, enabling farmers to make </a:t>
            </a:r>
            <a:r>
              <a:rPr lang="en-US" sz="1400" b="1" dirty="0"/>
              <a:t>profitable and </a:t>
            </a:r>
            <a:r>
              <a:rPr lang="en-US" b="1" dirty="0"/>
              <a:t>informed decisions</a:t>
            </a:r>
            <a:r>
              <a:rPr lang="en-US" dirty="0"/>
              <a:t>.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6009050" y="3640493"/>
            <a:ext cx="5863478" cy="2431435"/>
          </a:xfrm>
          <a:prstGeom prst="rect">
            <a:avLst/>
          </a:prstGeom>
          <a:solidFill>
            <a:srgbClr val="CCFF6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 &amp; Uniqueness of the Solution</a:t>
            </a:r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b="1" dirty="0"/>
              <a:t>Unified &amp; Scalable Platform:</a:t>
            </a:r>
            <a:r>
              <a:rPr lang="en-US" sz="1400" dirty="0"/>
              <a:t> Integrates </a:t>
            </a:r>
            <a:r>
              <a:rPr lang="en-US" sz="1400" b="1" dirty="0"/>
              <a:t>sensors + satellites + government APIs + ML</a:t>
            </a:r>
            <a:r>
              <a:rPr lang="en-US" sz="1400" dirty="0"/>
              <a:t> for a single, easy-to-use advisory system</a:t>
            </a:r>
            <a:endParaRPr lang="en-US" sz="1400" dirty="0"/>
          </a:p>
          <a:p>
            <a:endParaRPr lang="en-US" sz="1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b="1" dirty="0"/>
              <a:t>Feedback-Driven Self-Learning System:</a:t>
            </a:r>
            <a:r>
              <a:rPr lang="en-US" sz="1400" dirty="0"/>
              <a:t> Continuously improves through farmer feedback, increasing accuracy over time.</a:t>
            </a:r>
            <a:endParaRPr lang="en-US" sz="1400" dirty="0"/>
          </a:p>
          <a:p>
            <a:endParaRPr lang="en-US" sz="1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b="1" dirty="0"/>
              <a:t>Low-Cost &amp; Sustainable:</a:t>
            </a:r>
            <a:r>
              <a:rPr lang="en-US" sz="1400" dirty="0"/>
              <a:t> Directly connects with government resources, making the solution </a:t>
            </a:r>
            <a:r>
              <a:rPr lang="en-US" sz="1400" b="1" dirty="0"/>
              <a:t>affordable, scalable, and financially beneficial</a:t>
            </a:r>
            <a:r>
              <a:rPr lang="en-US" sz="1400" dirty="0"/>
              <a:t> for farmers.</a:t>
            </a:r>
            <a:endParaRPr lang="en-US" sz="1400" dirty="0"/>
          </a:p>
          <a:p>
            <a:endParaRPr lang="en-IN" sz="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Title 1"/>
          <p:cNvSpPr txBox="1"/>
          <p:nvPr/>
        </p:nvSpPr>
        <p:spPr bwMode="auto">
          <a:xfrm>
            <a:off x="797513" y="-268634"/>
            <a:ext cx="10423075" cy="10203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MS PGothic" panose="020B0600070205080204" pitchFamily="1" charset="-128"/>
                <a:cs typeface="MS PGothic" panose="020B0600070205080204" pitchFamily="1" charset="-128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9pPr>
          </a:lstStyle>
          <a:p>
            <a:pPr eaLnBrk="1" hangingPunct="1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H</a:t>
            </a:r>
            <a:r>
              <a:rPr lang="en-US" sz="2800" b="1" dirty="0">
                <a:solidFill>
                  <a:srgbClr val="00B0F0"/>
                </a:solidFill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A</a:t>
            </a:r>
            <a:r>
              <a:rPr lang="en-US" sz="2800" b="1" dirty="0">
                <a:solidFill>
                  <a:srgbClr val="92D050"/>
                </a:solidFill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L</a:t>
            </a:r>
            <a:r>
              <a:rPr lang="en-US" sz="2800" b="1" dirty="0"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 (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Harvest</a:t>
            </a:r>
            <a:r>
              <a:rPr lang="en-US" sz="2800" b="1" dirty="0"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00B0F0"/>
                </a:solidFill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Advisory</a:t>
            </a:r>
            <a:r>
              <a:rPr lang="en-US" sz="2800" b="1" dirty="0"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 with </a:t>
            </a:r>
            <a:r>
              <a:rPr lang="en-US" sz="2800" b="1" dirty="0">
                <a:solidFill>
                  <a:srgbClr val="92D050"/>
                </a:solidFill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Linguistic</a:t>
            </a:r>
            <a:r>
              <a:rPr lang="en-US" sz="2800" b="1" dirty="0"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 intelligence)</a:t>
            </a:r>
            <a:endParaRPr lang="en-US" sz="2800" b="1" dirty="0">
              <a:latin typeface="+mn-lt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pic>
        <p:nvPicPr>
          <p:cNvPr id="13" name="Picture 2" descr="https://www.sih.gov.in/img1/SIH-Logo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5477" y="-34433"/>
            <a:ext cx="1416521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8762526" y="357277"/>
            <a:ext cx="33843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>
                <a:solidFill>
                  <a:srgbClr val="C00000"/>
                </a:solidFill>
              </a:rPr>
              <a:t>from soil to solutions</a:t>
            </a:r>
            <a:endParaRPr lang="en-IN" sz="1400" b="1" i="1" dirty="0">
              <a:solidFill>
                <a:srgbClr val="C00000"/>
              </a:solidFill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2"/>
          <a:srcRect l="25163" t="11849" r="25984" b="4677"/>
          <a:stretch>
            <a:fillRect/>
          </a:stretch>
        </p:blipFill>
        <p:spPr>
          <a:xfrm>
            <a:off x="215924" y="19768"/>
            <a:ext cx="632057" cy="7200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9114" y="831821"/>
            <a:ext cx="1233654" cy="123365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84185" y="670194"/>
            <a:ext cx="6154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>
                <a:solidFill>
                  <a:srgbClr val="323E1A"/>
                </a:solidFill>
              </a:rPr>
              <a:t>by</a:t>
            </a:r>
            <a:endParaRPr lang="en-IN" sz="1400" b="1" i="1" dirty="0">
              <a:solidFill>
                <a:srgbClr val="323E1A"/>
              </a:solidFill>
            </a:endParaRPr>
          </a:p>
        </p:txBody>
      </p:sp>
      <p:pic>
        <p:nvPicPr>
          <p:cNvPr id="2059" name="Picture 1" descr="IMG_25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" y="25400"/>
            <a:ext cx="134938" cy="134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3" descr="IMG_25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34925"/>
            <a:ext cx="171450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7" name="Picture 4" descr="IMG_25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4925" y="58738"/>
            <a:ext cx="163513" cy="163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5" descr="IMG_25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288" y="69850"/>
            <a:ext cx="206376" cy="206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5" name="Picture 6" descr="IMG_25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6988" y="6350"/>
            <a:ext cx="171451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7" descr="IMG_256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1275" y="14288"/>
            <a:ext cx="184150" cy="184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8" descr="IMG_256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1275" y="36513"/>
            <a:ext cx="187325" cy="187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9" descr="IMG_256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163" y="96838"/>
            <a:ext cx="200026" cy="20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10" descr="IMG_256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130175"/>
            <a:ext cx="201612" cy="201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11" descr="IMG_25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6988" y="28575"/>
            <a:ext cx="241301" cy="17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9" name="Picture 12" descr="IMG_25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146050"/>
            <a:ext cx="206375" cy="206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0" name="Picture 22" descr="IMG_25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" y="25400"/>
            <a:ext cx="134938" cy="134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9" name="Picture 21" descr="IMG_25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34925"/>
            <a:ext cx="171450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8" name="Picture 20" descr="IMG_25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4925" y="58738"/>
            <a:ext cx="163513" cy="163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7" name="Picture 19" descr="IMG_25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288" y="69850"/>
            <a:ext cx="206376" cy="206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 descr="IMG_25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6988" y="6350"/>
            <a:ext cx="171451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5" name="Picture 17" descr="IMG_256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1275" y="14288"/>
            <a:ext cx="184150" cy="184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IMG_256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1275" y="36513"/>
            <a:ext cx="187325" cy="187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3" name="Picture 15" descr="IMG_256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163" y="96838"/>
            <a:ext cx="200026" cy="20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IMG_256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130175"/>
            <a:ext cx="201612" cy="201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1" name="Picture 13" descr="IMG_25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6988" y="28575"/>
            <a:ext cx="241301" cy="17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IMG_25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146050"/>
            <a:ext cx="206375" cy="206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2114" y="2091822"/>
            <a:ext cx="613504" cy="614889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6685" y="2835121"/>
            <a:ext cx="720000" cy="7200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70180" y="3734761"/>
            <a:ext cx="731536" cy="711548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18"/>
          <a:srcRect l="19185" t="32433" r="17668" b="30837"/>
          <a:stretch>
            <a:fillRect/>
          </a:stretch>
        </p:blipFill>
        <p:spPr>
          <a:xfrm>
            <a:off x="169936" y="4713804"/>
            <a:ext cx="1325381" cy="48318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2563" y="5412714"/>
            <a:ext cx="1705729" cy="89855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4648200" y="503555"/>
            <a:ext cx="3780790" cy="474345"/>
          </a:xfrm>
          <a:prstGeom prst="rect">
            <a:avLst/>
          </a:prstGeom>
          <a:solidFill>
            <a:srgbClr val="F9F199">
              <a:alpha val="70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Proposed Methodology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Picture 3" descr="IMG_2140"/>
          <p:cNvPicPr>
            <a:picLocks noChangeAspect="1"/>
          </p:cNvPicPr>
          <p:nvPr/>
        </p:nvPicPr>
        <p:blipFill>
          <a:blip r:embed="rId20"/>
          <a:srcRect l="5589" t="3893" b="10308"/>
          <a:stretch>
            <a:fillRect/>
          </a:stretch>
        </p:blipFill>
        <p:spPr>
          <a:xfrm>
            <a:off x="1873885" y="1039495"/>
            <a:ext cx="10158730" cy="50380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Title 1"/>
          <p:cNvSpPr txBox="1"/>
          <p:nvPr/>
        </p:nvSpPr>
        <p:spPr bwMode="auto">
          <a:xfrm>
            <a:off x="797513" y="-268634"/>
            <a:ext cx="10423075" cy="10203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MS PGothic" panose="020B0600070205080204" pitchFamily="1" charset="-128"/>
                <a:cs typeface="MS PGothic" panose="020B0600070205080204" pitchFamily="1" charset="-128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9pPr>
          </a:lstStyle>
          <a:p>
            <a:pPr eaLnBrk="1" hangingPunct="1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H</a:t>
            </a:r>
            <a:r>
              <a:rPr lang="en-US" sz="2800" b="1" dirty="0">
                <a:solidFill>
                  <a:srgbClr val="00B0F0"/>
                </a:solidFill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A</a:t>
            </a:r>
            <a:r>
              <a:rPr lang="en-US" sz="2800" b="1" dirty="0">
                <a:solidFill>
                  <a:srgbClr val="92D050"/>
                </a:solidFill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L</a:t>
            </a:r>
            <a:r>
              <a:rPr lang="en-US" sz="2800" b="1" dirty="0"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 (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Harvest</a:t>
            </a:r>
            <a:r>
              <a:rPr lang="en-US" sz="2800" b="1" dirty="0"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00B0F0"/>
                </a:solidFill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Advisory</a:t>
            </a:r>
            <a:r>
              <a:rPr lang="en-US" sz="2800" b="1" dirty="0"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 with </a:t>
            </a:r>
            <a:r>
              <a:rPr lang="en-US" sz="2800" b="1" dirty="0">
                <a:solidFill>
                  <a:srgbClr val="92D050"/>
                </a:solidFill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Linguistic</a:t>
            </a:r>
            <a:r>
              <a:rPr lang="en-US" sz="2800" b="1" dirty="0"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 intelligence)</a:t>
            </a:r>
            <a:endParaRPr lang="en-US" sz="2800" b="1" dirty="0">
              <a:latin typeface="+mn-lt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pic>
        <p:nvPicPr>
          <p:cNvPr id="13" name="Picture 2" descr="https://www.sih.gov.in/img1/SIH-Logo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5477" y="-34433"/>
            <a:ext cx="1416521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8762526" y="357277"/>
            <a:ext cx="33843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>
                <a:solidFill>
                  <a:srgbClr val="C00000"/>
                </a:solidFill>
              </a:rPr>
              <a:t>from soil to solutions</a:t>
            </a:r>
            <a:endParaRPr lang="en-IN" sz="1400" b="1" i="1" dirty="0">
              <a:solidFill>
                <a:srgbClr val="C00000"/>
              </a:solidFill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2"/>
          <a:srcRect l="25163" t="11849" r="25984" b="4677"/>
          <a:stretch>
            <a:fillRect/>
          </a:stretch>
        </p:blipFill>
        <p:spPr>
          <a:xfrm>
            <a:off x="215924" y="19768"/>
            <a:ext cx="632057" cy="7200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9114" y="831821"/>
            <a:ext cx="1233654" cy="123365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84185" y="670194"/>
            <a:ext cx="6154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>
                <a:solidFill>
                  <a:srgbClr val="323E1A"/>
                </a:solidFill>
              </a:rPr>
              <a:t>by</a:t>
            </a:r>
            <a:endParaRPr lang="en-IN" sz="1400" b="1" i="1" dirty="0">
              <a:solidFill>
                <a:srgbClr val="323E1A"/>
              </a:solidFill>
            </a:endParaRPr>
          </a:p>
        </p:txBody>
      </p:sp>
      <p:graphicFrame>
        <p:nvGraphicFramePr>
          <p:cNvPr id="2" name="Diagram 1"/>
          <p:cNvGraphicFramePr/>
          <p:nvPr/>
        </p:nvGraphicFramePr>
        <p:xfrm>
          <a:off x="2395337" y="426286"/>
          <a:ext cx="7848649" cy="26778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5" name="Picture 4" descr="scree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4745" y="1200150"/>
            <a:ext cx="1378585" cy="28321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48435" y="1805305"/>
            <a:ext cx="633730" cy="719455"/>
          </a:xfrm>
          <a:prstGeom prst="rect">
            <a:avLst/>
          </a:prstGeom>
        </p:spPr>
      </p:pic>
      <p:pic>
        <p:nvPicPr>
          <p:cNvPr id="10" name="Picture 9" descr="screen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24785" y="1200150"/>
            <a:ext cx="1559560" cy="28321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 descr="screen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95800" y="1200150"/>
            <a:ext cx="1603375" cy="280860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Picture 19" descr="screen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10630" y="1200150"/>
            <a:ext cx="1538605" cy="280860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48435" y="4673600"/>
            <a:ext cx="8916035" cy="1617980"/>
          </a:xfrm>
          <a:prstGeom prst="rect">
            <a:avLst/>
          </a:prstGeom>
        </p:spPr>
      </p:pic>
      <p:pic>
        <p:nvPicPr>
          <p:cNvPr id="21" name="Picture 20" descr="screen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75520" y="1181100"/>
            <a:ext cx="1489075" cy="282765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3" name="Picture 22" descr="screen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60690" y="1200150"/>
            <a:ext cx="1673860" cy="28035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" name="Text Box 23"/>
          <p:cNvSpPr txBox="1"/>
          <p:nvPr/>
        </p:nvSpPr>
        <p:spPr>
          <a:xfrm>
            <a:off x="3424555" y="455930"/>
            <a:ext cx="4925060" cy="521970"/>
          </a:xfrm>
          <a:prstGeom prst="rect">
            <a:avLst/>
          </a:prstGeom>
          <a:solidFill>
            <a:srgbClr val="4EAE04">
              <a:alpha val="44000"/>
            </a:srgbClr>
          </a:solidFill>
          <a:ln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p>
            <a:pPr algn="ctr"/>
            <a:r>
              <a:rPr lang="en-US" sz="2800" b="1"/>
              <a:t>HAL INTERFACE</a:t>
            </a:r>
            <a:endParaRPr lang="en-US" sz="2800" b="1"/>
          </a:p>
        </p:txBody>
      </p:sp>
      <p:sp>
        <p:nvSpPr>
          <p:cNvPr id="26" name="Text Box 25"/>
          <p:cNvSpPr txBox="1"/>
          <p:nvPr/>
        </p:nvSpPr>
        <p:spPr>
          <a:xfrm>
            <a:off x="3633470" y="4142740"/>
            <a:ext cx="4925060" cy="466090"/>
          </a:xfrm>
          <a:prstGeom prst="rect">
            <a:avLst/>
          </a:prstGeom>
          <a:solidFill>
            <a:srgbClr val="4EAE04">
              <a:alpha val="44000"/>
            </a:srgbClr>
          </a:solidFill>
          <a:ln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noAutofit/>
          </a:bodyPr>
          <a:p>
            <a:pPr algn="ctr"/>
            <a:r>
              <a:rPr lang="en-US" sz="2800" b="1"/>
              <a:t>TECHNOLOGIES TO BE USED</a:t>
            </a:r>
            <a:endParaRPr lang="en-US" sz="2800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Title 1"/>
          <p:cNvSpPr txBox="1"/>
          <p:nvPr/>
        </p:nvSpPr>
        <p:spPr bwMode="auto">
          <a:xfrm>
            <a:off x="797513" y="-268634"/>
            <a:ext cx="10423075" cy="10203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MS PGothic" panose="020B0600070205080204" pitchFamily="1" charset="-128"/>
                <a:cs typeface="MS PGothic" panose="020B0600070205080204" pitchFamily="1" charset="-128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9pPr>
          </a:lstStyle>
          <a:p>
            <a:pPr eaLnBrk="1" hangingPunct="1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H</a:t>
            </a:r>
            <a:r>
              <a:rPr lang="en-US" sz="2800" b="1" dirty="0">
                <a:solidFill>
                  <a:srgbClr val="00B0F0"/>
                </a:solidFill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A</a:t>
            </a:r>
            <a:r>
              <a:rPr lang="en-US" sz="2800" b="1" dirty="0">
                <a:solidFill>
                  <a:srgbClr val="92D050"/>
                </a:solidFill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L</a:t>
            </a:r>
            <a:r>
              <a:rPr lang="en-US" sz="2800" b="1" dirty="0"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 (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Harvest</a:t>
            </a:r>
            <a:r>
              <a:rPr lang="en-US" sz="2800" b="1" dirty="0"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00B0F0"/>
                </a:solidFill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Advisory</a:t>
            </a:r>
            <a:r>
              <a:rPr lang="en-US" sz="2800" b="1" dirty="0"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 with </a:t>
            </a:r>
            <a:r>
              <a:rPr lang="en-US" sz="2800" b="1" dirty="0">
                <a:solidFill>
                  <a:srgbClr val="92D050"/>
                </a:solidFill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Linguistic</a:t>
            </a:r>
            <a:r>
              <a:rPr lang="en-US" sz="2800" b="1" dirty="0"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 intelligence)</a:t>
            </a:r>
            <a:endParaRPr lang="en-US" sz="2800" b="1" dirty="0">
              <a:latin typeface="+mn-lt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pic>
        <p:nvPicPr>
          <p:cNvPr id="13" name="Picture 2" descr="https://www.sih.gov.in/img1/SIH-Logo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5477" y="-34433"/>
            <a:ext cx="1416521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8762526" y="357277"/>
            <a:ext cx="33843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>
                <a:solidFill>
                  <a:srgbClr val="C00000"/>
                </a:solidFill>
              </a:rPr>
              <a:t>from soil to solutions</a:t>
            </a:r>
            <a:endParaRPr lang="en-IN" sz="1400" b="1" i="1" dirty="0">
              <a:solidFill>
                <a:srgbClr val="C00000"/>
              </a:solidFill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2"/>
          <a:srcRect l="25163" t="11849" r="25984" b="4677"/>
          <a:stretch>
            <a:fillRect/>
          </a:stretch>
        </p:blipFill>
        <p:spPr>
          <a:xfrm>
            <a:off x="215924" y="19768"/>
            <a:ext cx="632057" cy="7200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9114" y="831821"/>
            <a:ext cx="1233654" cy="123365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84185" y="670194"/>
            <a:ext cx="6154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>
                <a:solidFill>
                  <a:srgbClr val="323E1A"/>
                </a:solidFill>
              </a:rPr>
              <a:t>by</a:t>
            </a:r>
            <a:endParaRPr lang="en-IN" sz="1400" b="1" i="1" dirty="0">
              <a:solidFill>
                <a:srgbClr val="323E1A"/>
              </a:solidFill>
            </a:endParaRPr>
          </a:p>
        </p:txBody>
      </p:sp>
      <p:graphicFrame>
        <p:nvGraphicFramePr>
          <p:cNvPr id="2" name="Diagram 1"/>
          <p:cNvGraphicFramePr/>
          <p:nvPr/>
        </p:nvGraphicFramePr>
        <p:xfrm>
          <a:off x="2395337" y="426286"/>
          <a:ext cx="7848649" cy="26778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3720" y="3575685"/>
            <a:ext cx="4281805" cy="220535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6735" y="5709285"/>
            <a:ext cx="42887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/>
              <a:t>Fig: (a) Pan- India study area, (b) Google Earth dataset as ground truth and (c) Green-ness (vegetation health) and indices stacking on Sentinel dataset</a:t>
            </a:r>
            <a:endParaRPr lang="en-US" sz="1200" b="1" dirty="0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6125" y="831836"/>
            <a:ext cx="4651652" cy="2530060"/>
          </a:xfrm>
          <a:prstGeom prst="rect">
            <a:avLst/>
          </a:prstGeom>
        </p:spPr>
      </p:pic>
      <p:pic>
        <p:nvPicPr>
          <p:cNvPr id="10" name="Picture 9" descr="IMG_2141"/>
          <p:cNvPicPr>
            <a:picLocks noChangeAspect="1"/>
          </p:cNvPicPr>
          <p:nvPr/>
        </p:nvPicPr>
        <p:blipFill>
          <a:blip r:embed="rId11"/>
          <a:srcRect l="5180" t="5750" r="6183" b="8167"/>
          <a:stretch>
            <a:fillRect/>
          </a:stretch>
        </p:blipFill>
        <p:spPr>
          <a:xfrm>
            <a:off x="6108700" y="977900"/>
            <a:ext cx="5911850" cy="5085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Title 1"/>
          <p:cNvSpPr txBox="1"/>
          <p:nvPr/>
        </p:nvSpPr>
        <p:spPr bwMode="auto">
          <a:xfrm>
            <a:off x="797513" y="-188529"/>
            <a:ext cx="10423075" cy="109705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MS PGothic" panose="020B0600070205080204" pitchFamily="1" charset="-128"/>
                <a:cs typeface="MS PGothic" panose="020B0600070205080204" pitchFamily="1" charset="-128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9pPr>
          </a:lstStyle>
          <a:p>
            <a:pPr eaLnBrk="1" hangingPunct="1"/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H</a:t>
            </a:r>
            <a:r>
              <a:rPr lang="en-US" sz="3600" b="1" dirty="0">
                <a:solidFill>
                  <a:srgbClr val="00B0F0"/>
                </a:solidFill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A</a:t>
            </a:r>
            <a:r>
              <a:rPr lang="en-US" sz="3600" b="1" dirty="0">
                <a:solidFill>
                  <a:srgbClr val="92D050"/>
                </a:solidFill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L</a:t>
            </a:r>
            <a:r>
              <a:rPr lang="en-US" sz="3600" b="1" dirty="0"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 (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Harvest</a:t>
            </a:r>
            <a:r>
              <a:rPr lang="en-US" sz="3600" b="1" dirty="0"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00B0F0"/>
                </a:solidFill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Advisory</a:t>
            </a:r>
            <a:r>
              <a:rPr lang="en-US" sz="3600" b="1" dirty="0"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 with </a:t>
            </a:r>
            <a:r>
              <a:rPr lang="en-US" sz="3600" b="1" dirty="0">
                <a:solidFill>
                  <a:srgbClr val="92D050"/>
                </a:solidFill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Linguistic</a:t>
            </a:r>
            <a:r>
              <a:rPr lang="en-US" sz="3600" b="1" dirty="0"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 intelligence)</a:t>
            </a:r>
            <a:endParaRPr lang="en-US" sz="3600" b="1" dirty="0">
              <a:latin typeface="+mn-lt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pic>
        <p:nvPicPr>
          <p:cNvPr id="13" name="Picture 2" descr="https://www.sih.gov.in/img1/SIH-Logo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5477" y="-34433"/>
            <a:ext cx="1416521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2"/>
          <a:srcRect l="24444" t="31423" r="27556" b="30666"/>
          <a:stretch>
            <a:fillRect/>
          </a:stretch>
        </p:blipFill>
        <p:spPr>
          <a:xfrm>
            <a:off x="11394486" y="645631"/>
            <a:ext cx="732531" cy="57855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65909" y="496790"/>
            <a:ext cx="33843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C00000"/>
                </a:solidFill>
              </a:rPr>
              <a:t>from soil to solutions</a:t>
            </a:r>
            <a:endParaRPr lang="en-IN" sz="2000" b="1" i="1" dirty="0">
              <a:solidFill>
                <a:srgbClr val="C00000"/>
              </a:solidFill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3"/>
          <a:srcRect l="25163" t="11849" r="25984" b="4677"/>
          <a:stretch>
            <a:fillRect/>
          </a:stretch>
        </p:blipFill>
        <p:spPr>
          <a:xfrm>
            <a:off x="215924" y="19768"/>
            <a:ext cx="632057" cy="720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84185" y="670194"/>
            <a:ext cx="6154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>
                <a:solidFill>
                  <a:srgbClr val="323E1A"/>
                </a:solidFill>
              </a:rPr>
              <a:t>by</a:t>
            </a:r>
            <a:endParaRPr lang="en-IN" sz="1400" b="1" i="1" dirty="0">
              <a:solidFill>
                <a:srgbClr val="323E1A"/>
              </a:solidFill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0234" y="2564884"/>
            <a:ext cx="2827398" cy="2670716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75477" y="3341362"/>
            <a:ext cx="634039" cy="71939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rcRect t="14091"/>
          <a:stretch>
            <a:fillRect/>
          </a:stretch>
        </p:blipFill>
        <p:spPr>
          <a:xfrm>
            <a:off x="517713" y="1829443"/>
            <a:ext cx="4400991" cy="4462617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99114" y="831821"/>
            <a:ext cx="1233654" cy="123365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/>
          <a:srcRect t="12930"/>
          <a:stretch>
            <a:fillRect/>
          </a:stretch>
        </p:blipFill>
        <p:spPr>
          <a:xfrm>
            <a:off x="4648200" y="1877960"/>
            <a:ext cx="5621090" cy="383458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39825" y="1224185"/>
            <a:ext cx="382474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Roboto"/>
              </a:rPr>
              <a:t>Feasibility and Viability of the Solution</a:t>
            </a:r>
            <a:endParaRPr lang="en-US" sz="1600" b="1" dirty="0">
              <a:latin typeface="Roboto"/>
            </a:endParaRPr>
          </a:p>
          <a:p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1341032" y="1200970"/>
            <a:ext cx="358877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Roboto"/>
              </a:rPr>
              <a:t>Challenges and Mitigations</a:t>
            </a:r>
            <a:endParaRPr lang="en-IN" sz="1600" b="1" dirty="0">
              <a:latin typeface="Roboto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Title 1"/>
          <p:cNvSpPr txBox="1"/>
          <p:nvPr/>
        </p:nvSpPr>
        <p:spPr bwMode="auto">
          <a:xfrm>
            <a:off x="797513" y="-188529"/>
            <a:ext cx="10423075" cy="109705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MS PGothic" panose="020B0600070205080204" pitchFamily="1" charset="-128"/>
                <a:cs typeface="MS PGothic" panose="020B0600070205080204" pitchFamily="1" charset="-128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9pPr>
          </a:lstStyle>
          <a:p>
            <a:pPr eaLnBrk="1" hangingPunct="1"/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H</a:t>
            </a:r>
            <a:r>
              <a:rPr lang="en-US" sz="3600" b="1" dirty="0">
                <a:solidFill>
                  <a:srgbClr val="00B0F0"/>
                </a:solidFill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A</a:t>
            </a:r>
            <a:r>
              <a:rPr lang="en-US" sz="3600" b="1" dirty="0">
                <a:solidFill>
                  <a:srgbClr val="92D050"/>
                </a:solidFill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L</a:t>
            </a:r>
            <a:r>
              <a:rPr lang="en-US" sz="3600" b="1" dirty="0"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 (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Harvest</a:t>
            </a:r>
            <a:r>
              <a:rPr lang="en-US" sz="3600" b="1" dirty="0"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00B0F0"/>
                </a:solidFill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Advisory</a:t>
            </a:r>
            <a:r>
              <a:rPr lang="en-US" sz="3600" b="1" dirty="0"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 with </a:t>
            </a:r>
            <a:r>
              <a:rPr lang="en-US" sz="3600" b="1" dirty="0">
                <a:solidFill>
                  <a:srgbClr val="92D050"/>
                </a:solidFill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Linguistic</a:t>
            </a:r>
            <a:r>
              <a:rPr lang="en-US" sz="3600" b="1" dirty="0">
                <a:latin typeface="+mn-lt"/>
                <a:ea typeface="MS PGothic" panose="020B0600070205080204" pitchFamily="1" charset="-128"/>
                <a:cs typeface="Times New Roman" panose="02020603050405020304" pitchFamily="18" charset="0"/>
              </a:rPr>
              <a:t> intelligence)</a:t>
            </a:r>
            <a:endParaRPr lang="en-US" sz="3600" b="1" dirty="0">
              <a:latin typeface="+mn-lt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pic>
        <p:nvPicPr>
          <p:cNvPr id="13" name="Picture 2" descr="https://www.sih.gov.in/img1/SIH-Logo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5477" y="-34433"/>
            <a:ext cx="1416521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2"/>
          <a:srcRect l="24444" t="31423" r="27556" b="30666"/>
          <a:stretch>
            <a:fillRect/>
          </a:stretch>
        </p:blipFill>
        <p:spPr>
          <a:xfrm>
            <a:off x="11394486" y="645631"/>
            <a:ext cx="732531" cy="57855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65909" y="496790"/>
            <a:ext cx="33843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C00000"/>
                </a:solidFill>
              </a:rPr>
              <a:t>from soil to solutions</a:t>
            </a:r>
            <a:endParaRPr lang="en-IN" sz="2000" b="1" i="1" dirty="0">
              <a:solidFill>
                <a:srgbClr val="C00000"/>
              </a:solidFill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3"/>
          <a:srcRect l="25163" t="11849" r="25984" b="4677"/>
          <a:stretch>
            <a:fillRect/>
          </a:stretch>
        </p:blipFill>
        <p:spPr>
          <a:xfrm>
            <a:off x="215924" y="19768"/>
            <a:ext cx="632057" cy="7200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9114" y="831821"/>
            <a:ext cx="1233654" cy="123365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84185" y="670194"/>
            <a:ext cx="6154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>
                <a:solidFill>
                  <a:srgbClr val="323E1A"/>
                </a:solidFill>
              </a:rPr>
              <a:t>by</a:t>
            </a:r>
            <a:endParaRPr lang="en-IN" sz="1400" b="1" i="1" dirty="0">
              <a:solidFill>
                <a:srgbClr val="323E1A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17227" y="888675"/>
            <a:ext cx="1049457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+mn-lt"/>
              </a:rPr>
              <a:t>References, used in the research (in IEEE format):</a:t>
            </a:r>
            <a:endParaRPr lang="en-US" sz="1400" b="1" dirty="0">
              <a:latin typeface="+mn-lt"/>
            </a:endParaRPr>
          </a:p>
          <a:p>
            <a:r>
              <a:rPr lang="en-US" sz="1400" dirty="0">
                <a:latin typeface="+mn-lt"/>
              </a:rPr>
              <a:t>[1]	L. </a:t>
            </a:r>
            <a:r>
              <a:rPr lang="en-US" sz="1400" dirty="0" err="1">
                <a:latin typeface="+mn-lt"/>
              </a:rPr>
              <a:t>Klerkx</a:t>
            </a:r>
            <a:r>
              <a:rPr lang="en-US" sz="1400" dirty="0">
                <a:latin typeface="+mn-lt"/>
              </a:rPr>
              <a:t>, “Advisory services and transformation, plurality and disruption of agriculture and food systems: towards a new research agenda for agricultural education and extension studies,” </a:t>
            </a:r>
            <a:r>
              <a:rPr lang="en-US" sz="1400" i="1" dirty="0">
                <a:latin typeface="+mn-lt"/>
              </a:rPr>
              <a:t>The Journal of Agricultural Education and Extension</a:t>
            </a:r>
            <a:r>
              <a:rPr lang="en-US" sz="1400" dirty="0">
                <a:latin typeface="+mn-lt"/>
              </a:rPr>
              <a:t>, vol. 26, no. 2, pp. 131–140, Mar. 2020, </a:t>
            </a:r>
            <a:r>
              <a:rPr lang="en-US" sz="1400" dirty="0" err="1">
                <a:latin typeface="+mn-lt"/>
              </a:rPr>
              <a:t>doi</a:t>
            </a:r>
            <a:r>
              <a:rPr lang="en-US" sz="1400" dirty="0">
                <a:latin typeface="+mn-lt"/>
              </a:rPr>
              <a:t>: 10.1080/1389224X.2020.1738046.</a:t>
            </a:r>
            <a:endParaRPr lang="en-IN" sz="1400" dirty="0">
              <a:latin typeface="+mn-lt"/>
            </a:endParaRPr>
          </a:p>
          <a:p>
            <a:r>
              <a:rPr lang="en-US" sz="1400" dirty="0">
                <a:latin typeface="+mn-lt"/>
              </a:rPr>
              <a:t>[2]	K. G. </a:t>
            </a:r>
            <a:r>
              <a:rPr lang="en-US" sz="1400" dirty="0" err="1">
                <a:latin typeface="+mn-lt"/>
              </a:rPr>
              <a:t>Liakos</a:t>
            </a:r>
            <a:r>
              <a:rPr lang="en-US" sz="1400" dirty="0">
                <a:latin typeface="+mn-lt"/>
              </a:rPr>
              <a:t>, P. </a:t>
            </a:r>
            <a:r>
              <a:rPr lang="en-US" sz="1400" dirty="0" err="1">
                <a:latin typeface="+mn-lt"/>
              </a:rPr>
              <a:t>Busato</a:t>
            </a:r>
            <a:r>
              <a:rPr lang="en-US" sz="1400" dirty="0">
                <a:latin typeface="+mn-lt"/>
              </a:rPr>
              <a:t>, D. </a:t>
            </a:r>
            <a:r>
              <a:rPr lang="en-US" sz="1400" dirty="0" err="1">
                <a:latin typeface="+mn-lt"/>
              </a:rPr>
              <a:t>Moshou</a:t>
            </a:r>
            <a:r>
              <a:rPr lang="en-US" sz="1400" dirty="0">
                <a:latin typeface="+mn-lt"/>
              </a:rPr>
              <a:t>, S. Pearson, and D. </a:t>
            </a:r>
            <a:r>
              <a:rPr lang="en-US" sz="1400" dirty="0" err="1">
                <a:latin typeface="+mn-lt"/>
              </a:rPr>
              <a:t>Bochtis</a:t>
            </a:r>
            <a:r>
              <a:rPr lang="en-US" sz="1400" dirty="0">
                <a:latin typeface="+mn-lt"/>
              </a:rPr>
              <a:t>, “Machine Learning in Agriculture: A Review,” </a:t>
            </a:r>
            <a:r>
              <a:rPr lang="en-US" sz="1400" i="1" dirty="0">
                <a:latin typeface="+mn-lt"/>
              </a:rPr>
              <a:t>Sensors</a:t>
            </a:r>
            <a:r>
              <a:rPr lang="en-US" sz="1400" dirty="0">
                <a:latin typeface="+mn-lt"/>
              </a:rPr>
              <a:t>, vol. 18, no. 8, Art. no. 8, Aug. 2018, </a:t>
            </a:r>
            <a:r>
              <a:rPr lang="en-US" sz="1400" dirty="0" err="1">
                <a:latin typeface="+mn-lt"/>
              </a:rPr>
              <a:t>doi</a:t>
            </a:r>
            <a:r>
              <a:rPr lang="en-US" sz="1400" dirty="0">
                <a:latin typeface="+mn-lt"/>
              </a:rPr>
              <a:t>: 10.3390/s18082674.</a:t>
            </a:r>
            <a:endParaRPr lang="en-IN" sz="1400" dirty="0">
              <a:latin typeface="+mn-lt"/>
            </a:endParaRPr>
          </a:p>
          <a:p>
            <a:r>
              <a:rPr lang="en-US" sz="1400" dirty="0">
                <a:latin typeface="+mn-lt"/>
              </a:rPr>
              <a:t>[3]	L. </a:t>
            </a:r>
            <a:r>
              <a:rPr lang="en-US" sz="1400" dirty="0" err="1">
                <a:latin typeface="+mn-lt"/>
              </a:rPr>
              <a:t>Klerkx</a:t>
            </a:r>
            <a:r>
              <a:rPr lang="en-US" sz="1400" dirty="0">
                <a:latin typeface="+mn-lt"/>
              </a:rPr>
              <a:t> and J. Jansen, “Building knowledge systems for sustainable agriculture: supporting private advisors to adequately address sustainable farm management in regular service contacts,” </a:t>
            </a:r>
            <a:r>
              <a:rPr lang="en-US" sz="1400" i="1" dirty="0">
                <a:latin typeface="+mn-lt"/>
              </a:rPr>
              <a:t>International Journal of Agricultural Sustainability</a:t>
            </a:r>
            <a:r>
              <a:rPr lang="en-US" sz="1400" dirty="0">
                <a:latin typeface="+mn-lt"/>
              </a:rPr>
              <a:t>, vol. 8, no. 3, pp. 148–163, Aug. 2010, </a:t>
            </a:r>
            <a:r>
              <a:rPr lang="en-US" sz="1400" dirty="0" err="1">
                <a:latin typeface="+mn-lt"/>
              </a:rPr>
              <a:t>doi</a:t>
            </a:r>
            <a:r>
              <a:rPr lang="en-US" sz="1400" dirty="0">
                <a:latin typeface="+mn-lt"/>
              </a:rPr>
              <a:t>: 10.3763/ijas.2009.0457.</a:t>
            </a:r>
            <a:endParaRPr lang="en-IN" sz="1400" dirty="0">
              <a:latin typeface="+mn-lt"/>
            </a:endParaRPr>
          </a:p>
          <a:p>
            <a:r>
              <a:rPr lang="en-US" sz="1400" dirty="0">
                <a:latin typeface="+mn-lt"/>
              </a:rPr>
              <a:t>[4]	M. Molina-Villa and L. </a:t>
            </a:r>
            <a:r>
              <a:rPr lang="en-US" sz="1400" dirty="0" err="1">
                <a:latin typeface="+mn-lt"/>
              </a:rPr>
              <a:t>Solaque</a:t>
            </a:r>
            <a:r>
              <a:rPr lang="en-US" sz="1400" dirty="0">
                <a:latin typeface="+mn-lt"/>
              </a:rPr>
              <a:t>, “Machine vision system for weed detection using image filtering in vegetables crops,” </a:t>
            </a:r>
            <a:r>
              <a:rPr lang="en-US" sz="1400" i="1" dirty="0" err="1">
                <a:latin typeface="+mn-lt"/>
              </a:rPr>
              <a:t>Revista</a:t>
            </a:r>
            <a:r>
              <a:rPr lang="en-US" sz="1400" i="1" dirty="0">
                <a:latin typeface="+mn-lt"/>
              </a:rPr>
              <a:t> </a:t>
            </a:r>
            <a:r>
              <a:rPr lang="en-US" sz="1400" i="1" dirty="0" err="1">
                <a:latin typeface="+mn-lt"/>
              </a:rPr>
              <a:t>Facultad</a:t>
            </a:r>
            <a:r>
              <a:rPr lang="en-US" sz="1400" i="1" dirty="0">
                <a:latin typeface="+mn-lt"/>
              </a:rPr>
              <a:t> de </a:t>
            </a:r>
            <a:r>
              <a:rPr lang="en-US" sz="1400" i="1" dirty="0" err="1">
                <a:latin typeface="+mn-lt"/>
              </a:rPr>
              <a:t>Ingeniería</a:t>
            </a:r>
            <a:r>
              <a:rPr lang="en-US" sz="1400" i="1" dirty="0">
                <a:latin typeface="+mn-lt"/>
              </a:rPr>
              <a:t> Universidad de Antioquia</a:t>
            </a:r>
            <a:r>
              <a:rPr lang="en-US" sz="1400" dirty="0">
                <a:latin typeface="+mn-lt"/>
              </a:rPr>
              <a:t>, vol. 2016, Sept. 2016, </a:t>
            </a:r>
            <a:r>
              <a:rPr lang="en-US" sz="1400" dirty="0" err="1">
                <a:latin typeface="+mn-lt"/>
              </a:rPr>
              <a:t>doi</a:t>
            </a:r>
            <a:r>
              <a:rPr lang="en-US" sz="1400" dirty="0">
                <a:latin typeface="+mn-lt"/>
              </a:rPr>
              <a:t>: 10.17533/udea.redin.n80a13.</a:t>
            </a:r>
            <a:endParaRPr lang="en-IN" sz="1400" dirty="0">
              <a:latin typeface="+mn-lt"/>
            </a:endParaRPr>
          </a:p>
          <a:p>
            <a:r>
              <a:rPr lang="en-US" sz="1400" dirty="0">
                <a:latin typeface="+mn-lt"/>
              </a:rPr>
              <a:t>[5]	H. F. </a:t>
            </a:r>
            <a:r>
              <a:rPr lang="en-US" sz="1400" dirty="0" err="1">
                <a:latin typeface="+mn-lt"/>
              </a:rPr>
              <a:t>Abouziena</a:t>
            </a:r>
            <a:r>
              <a:rPr lang="en-US" sz="1400" dirty="0">
                <a:latin typeface="+mn-lt"/>
              </a:rPr>
              <a:t> and W. M. </a:t>
            </a:r>
            <a:r>
              <a:rPr lang="en-US" sz="1400" dirty="0" err="1">
                <a:latin typeface="+mn-lt"/>
              </a:rPr>
              <a:t>Haggag</a:t>
            </a:r>
            <a:r>
              <a:rPr lang="en-US" sz="1400" dirty="0">
                <a:latin typeface="+mn-lt"/>
              </a:rPr>
              <a:t>, “Weed Control in Clean Agriculture: A Review</a:t>
            </a:r>
            <a:r>
              <a:rPr lang="en-US" sz="1400" baseline="30000" dirty="0">
                <a:latin typeface="+mn-lt"/>
              </a:rPr>
              <a:t>1</a:t>
            </a:r>
            <a:r>
              <a:rPr lang="en-US" sz="1400" dirty="0">
                <a:latin typeface="+mn-lt"/>
              </a:rPr>
              <a:t>,” </a:t>
            </a:r>
            <a:r>
              <a:rPr lang="en-US" sz="1400" i="1" dirty="0">
                <a:latin typeface="+mn-lt"/>
              </a:rPr>
              <a:t>Planta </a:t>
            </a:r>
            <a:r>
              <a:rPr lang="en-US" sz="1400" i="1" dirty="0" err="1">
                <a:latin typeface="+mn-lt"/>
              </a:rPr>
              <a:t>daninha</a:t>
            </a:r>
            <a:r>
              <a:rPr lang="en-US" sz="1400" dirty="0">
                <a:latin typeface="+mn-lt"/>
              </a:rPr>
              <a:t>, vol. 34, pp. 377–392, June 2016, </a:t>
            </a:r>
            <a:r>
              <a:rPr lang="en-US" sz="1400" dirty="0" err="1">
                <a:latin typeface="+mn-lt"/>
              </a:rPr>
              <a:t>doi</a:t>
            </a:r>
            <a:r>
              <a:rPr lang="en-US" sz="1400" dirty="0">
                <a:latin typeface="+mn-lt"/>
              </a:rPr>
              <a:t>: 10.1590/S0100-83582016340200019.</a:t>
            </a:r>
            <a:endParaRPr lang="en-IN" sz="1400" dirty="0">
              <a:latin typeface="+mn-lt"/>
            </a:endParaRPr>
          </a:p>
          <a:p>
            <a:r>
              <a:rPr lang="en-US" sz="1400" dirty="0">
                <a:latin typeface="+mn-lt"/>
              </a:rPr>
              <a:t>[6]	“ENVI® Deep Learning Software | Geospatial Deep Learning Technology.” Accessed: Jan. 11, 2023. [Online]. Available: https://www.l3harrisgeospatial.com/Software-Technology/ENVI-Deep-Learning</a:t>
            </a:r>
            <a:endParaRPr lang="en-IN" sz="1400" dirty="0">
              <a:latin typeface="+mn-lt"/>
            </a:endParaRPr>
          </a:p>
          <a:p>
            <a:r>
              <a:rPr lang="en-US" sz="1400" dirty="0">
                <a:latin typeface="+mn-lt"/>
              </a:rPr>
              <a:t>[7]	C. Reid Turner, A. </a:t>
            </a:r>
            <a:r>
              <a:rPr lang="en-US" sz="1400" dirty="0" err="1">
                <a:latin typeface="+mn-lt"/>
              </a:rPr>
              <a:t>Fuggetta</a:t>
            </a:r>
            <a:r>
              <a:rPr lang="en-US" sz="1400" dirty="0">
                <a:latin typeface="+mn-lt"/>
              </a:rPr>
              <a:t>, L. Lavazza, and A. L. Wolf, “A conceptual basis for feature engineering,” </a:t>
            </a:r>
            <a:r>
              <a:rPr lang="en-US" sz="1400" i="1" dirty="0">
                <a:latin typeface="+mn-lt"/>
              </a:rPr>
              <a:t>Journal of Systems and Software</a:t>
            </a:r>
            <a:r>
              <a:rPr lang="en-US" sz="1400" dirty="0">
                <a:latin typeface="+mn-lt"/>
              </a:rPr>
              <a:t>, vol. 49, no. 1, pp. 3–15, Dec. 1999, </a:t>
            </a:r>
            <a:r>
              <a:rPr lang="en-US" sz="1400" dirty="0" err="1">
                <a:latin typeface="+mn-lt"/>
              </a:rPr>
              <a:t>doi</a:t>
            </a:r>
            <a:r>
              <a:rPr lang="en-US" sz="1400" dirty="0">
                <a:latin typeface="+mn-lt"/>
              </a:rPr>
              <a:t>: 10.1016/S0164-1212(99)00062-X.</a:t>
            </a:r>
            <a:endParaRPr lang="en-US" sz="1400" dirty="0">
              <a:latin typeface="+mn-lt"/>
            </a:endParaRPr>
          </a:p>
          <a:p>
            <a:r>
              <a:rPr lang="en-US" sz="1400" b="1" dirty="0">
                <a:latin typeface="+mn-lt"/>
              </a:rPr>
              <a:t>References of APIs and resources used:</a:t>
            </a:r>
            <a:endParaRPr lang="en-US" sz="1400" b="1" dirty="0">
              <a:latin typeface="+mn-lt"/>
            </a:endParaRPr>
          </a:p>
          <a:p>
            <a:r>
              <a:rPr lang="en-US" sz="1400" dirty="0">
                <a:latin typeface="+mn-lt"/>
              </a:rPr>
              <a:t>Open </a:t>
            </a:r>
            <a:r>
              <a:rPr lang="en-US" sz="1400" dirty="0" err="1">
                <a:latin typeface="+mn-lt"/>
              </a:rPr>
              <a:t>meteo</a:t>
            </a:r>
            <a:r>
              <a:rPr lang="en-US" sz="1400" dirty="0">
                <a:latin typeface="+mn-lt"/>
              </a:rPr>
              <a:t> : </a:t>
            </a:r>
            <a:r>
              <a:rPr lang="en-US" sz="1400" u="sng" dirty="0">
                <a:latin typeface="+mn-lt"/>
                <a:hlinkClick r:id="rId5"/>
              </a:rPr>
              <a:t>https://open-meteo.com/</a:t>
            </a:r>
            <a:endParaRPr lang="en-IN" sz="1400" dirty="0">
              <a:latin typeface="+mn-lt"/>
            </a:endParaRPr>
          </a:p>
          <a:p>
            <a:r>
              <a:rPr lang="en-US" sz="1400" dirty="0">
                <a:latin typeface="+mn-lt"/>
              </a:rPr>
              <a:t>NASA power API : </a:t>
            </a:r>
            <a:r>
              <a:rPr lang="en-US" sz="1400" u="sng" dirty="0">
                <a:latin typeface="+mn-lt"/>
                <a:hlinkClick r:id="rId6"/>
              </a:rPr>
              <a:t>https://power.larc.nasa.gov</a:t>
            </a:r>
            <a:endParaRPr lang="en-IN" sz="1400" dirty="0">
              <a:latin typeface="+mn-lt"/>
            </a:endParaRPr>
          </a:p>
          <a:p>
            <a:r>
              <a:rPr lang="en-US" sz="1400" dirty="0">
                <a:latin typeface="+mn-lt"/>
              </a:rPr>
              <a:t>Current Daily Price of Various Commodities from Various Markets (Mandi) : </a:t>
            </a:r>
            <a:r>
              <a:rPr lang="en-US" sz="1400" u="sng" dirty="0">
                <a:latin typeface="+mn-lt"/>
                <a:hlinkClick r:id="rId7"/>
              </a:rPr>
              <a:t>https://www.data.gov.in/resource/current-daily-price-various-commodities-various-markets-mandi</a:t>
            </a:r>
            <a:endParaRPr lang="en-IN" sz="1400" dirty="0">
              <a:latin typeface="+mn-lt"/>
            </a:endParaRPr>
          </a:p>
          <a:p>
            <a:r>
              <a:rPr lang="en-US" sz="1400" dirty="0">
                <a:latin typeface="+mn-lt"/>
              </a:rPr>
              <a:t>Mkisan gov : https://</a:t>
            </a:r>
            <a:r>
              <a:rPr lang="en-US" sz="1400" dirty="0">
                <a:latin typeface="+mn-lt"/>
                <a:hlinkClick r:id="rId8"/>
              </a:rPr>
              <a:t>mkisan.gov.in</a:t>
            </a:r>
            <a:r>
              <a:rPr lang="en-US" sz="1400" dirty="0">
                <a:latin typeface="+mn-lt"/>
              </a:rPr>
              <a:t>/</a:t>
            </a:r>
            <a:endParaRPr lang="en-IN" sz="1400" dirty="0">
              <a:latin typeface="+mn-lt"/>
            </a:endParaRPr>
          </a:p>
          <a:p>
            <a:r>
              <a:rPr lang="en-US" sz="1400" dirty="0">
                <a:latin typeface="+mn-lt"/>
              </a:rPr>
              <a:t>Ai4Bharat : </a:t>
            </a:r>
            <a:r>
              <a:rPr lang="en-US" sz="1400" u="sng" dirty="0">
                <a:latin typeface="+mn-lt"/>
                <a:hlinkClick r:id="rId9"/>
              </a:rPr>
              <a:t>https://ai4bharat.iitm.ac.in/ </a:t>
            </a:r>
            <a:endParaRPr lang="en-IN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4758</Words>
  <Application>WPS Presentation</Application>
  <PresentationFormat>Widescreen</PresentationFormat>
  <Paragraphs>132</Paragraphs>
  <Slides>7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2" baseType="lpstr">
      <vt:lpstr>Arial</vt:lpstr>
      <vt:lpstr>SimSun</vt:lpstr>
      <vt:lpstr>Wingdings</vt:lpstr>
      <vt:lpstr>Calibri</vt:lpstr>
      <vt:lpstr>MS PGothic</vt:lpstr>
      <vt:lpstr>TradeGothic</vt:lpstr>
      <vt:lpstr>Segoe Print</vt:lpstr>
      <vt:lpstr>TradeGothic</vt:lpstr>
      <vt:lpstr>Arial</vt:lpstr>
      <vt:lpstr>Garamond</vt:lpstr>
      <vt:lpstr>Times New Roman</vt:lpstr>
      <vt:lpstr>Roboto</vt:lpstr>
      <vt:lpstr>Arial Unicode MS</vt:lpstr>
      <vt:lpstr>Microsoft YaHei</vt:lpstr>
      <vt:lpstr>Office Theme</vt:lpstr>
      <vt:lpstr>SMART INDIA HACKATHON 2025</vt:lpstr>
      <vt:lpstr>HAL (Harvest Advisory with Linguistic intelligence)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Crowdfunder, 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Abeer;Pushpendra</dc:creator>
  <cp:lastModifiedBy>Abeer Rai</cp:lastModifiedBy>
  <cp:revision>216</cp:revision>
  <dcterms:created xsi:type="dcterms:W3CDTF">2013-12-12T18:46:00Z</dcterms:created>
  <dcterms:modified xsi:type="dcterms:W3CDTF">2025-09-25T10:35:37Z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5C9B4C2FAAD34269B08EBEC9F72B5E86_13</vt:lpwstr>
  </property>
  <property fmtid="{D5CDD505-2E9C-101B-9397-08002B2CF9AE}" pid="3" name="KSOProductBuildVer">
    <vt:lpwstr>1033-12.2.0.22549</vt:lpwstr>
  </property>
</Properties>
</file>